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4"/>
  </p:normalViewPr>
  <p:slideViewPr>
    <p:cSldViewPr snapToGrid="0" snapToObjects="1">
      <p:cViewPr varScale="1">
        <p:scale>
          <a:sx n="119" d="100"/>
          <a:sy n="119" d="100"/>
        </p:scale>
        <p:origin x="7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C7493-D70D-224F-96F3-D1CF0AFCE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091341-CEB1-E249-A778-5A353602DB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1A9810-790D-F24D-BD4F-F672E1639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220A2-5513-164A-97CA-094BAE16A8AF}" type="datetimeFigureOut">
              <a:rPr lang="en-US" smtClean="0"/>
              <a:t>3/11/20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6CA6A1-9CCD-9D42-92CC-6BAD59737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F7B72D-97DC-C848-9916-F2374A72C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1E016-C811-4C40-B19B-163C72343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665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5AE99-8F0A-5D45-8C37-42BB8B8D9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6BDD9-E583-8D4A-911B-0C19FE1B11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25A3C-7169-C742-B9C6-0E969CAC8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220A2-5513-164A-97CA-094BAE16A8AF}" type="datetimeFigureOut">
              <a:rPr lang="en-US" smtClean="0"/>
              <a:t>3/11/20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DD229-C706-E244-9D1B-07E10CBE7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70D870-24C7-6B46-8E0E-10334545F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1E016-C811-4C40-B19B-163C72343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775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4AF1D-393C-3D4F-9ADB-FD54872AE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C557F4-2278-CD4E-901A-422E77762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7CF23-B39E-314E-A58E-BDF3E1C09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220A2-5513-164A-97CA-094BAE16A8AF}" type="datetimeFigureOut">
              <a:rPr lang="en-US" smtClean="0"/>
              <a:t>3/11/20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92B2A-CBBF-EA41-88AB-98BAE653C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2E054A-E060-4145-8CFC-5F5A16241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1E016-C811-4C40-B19B-163C72343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483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47699-107B-454A-9F44-9F1D56D6A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7F105-E549-BA4F-8FBB-EB50417A35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D59A2E-4039-7B41-9524-05FD744A51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E716D6-9E58-6347-B6BC-6291FA4E1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220A2-5513-164A-97CA-094BAE16A8AF}" type="datetimeFigureOut">
              <a:rPr lang="en-US" smtClean="0"/>
              <a:t>3/11/20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F3D80E-D298-0E4B-AF92-8EEAC5A82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998393-E378-0B47-814A-6652F5FE1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1E016-C811-4C40-B19B-163C72343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698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F76F8-C246-A640-BB8E-AFE9343BA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F96E32-24E6-1B4E-B037-2308D0D01F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92070C-77A6-0048-A82A-1A91E9FE5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F76732-8862-2940-90D0-32522CE83F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C6E603-3D14-4045-8BEC-927F7EA3BA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BF9D09-5FA5-6341-9D9C-BD998545D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220A2-5513-164A-97CA-094BAE16A8AF}" type="datetimeFigureOut">
              <a:rPr lang="en-US" smtClean="0"/>
              <a:t>3/11/20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CF92E4-6F5E-DB40-B618-5AD5CD84B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9ED8C5-9AB2-E24A-80D6-5EA57B200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1E016-C811-4C40-B19B-163C72343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564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B88E9-A757-3344-B243-AE085692A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05B560-04DC-CB43-BAEB-B1CB3E3FF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220A2-5513-164A-97CA-094BAE16A8AF}" type="datetimeFigureOut">
              <a:rPr lang="en-US" smtClean="0"/>
              <a:t>3/11/20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78F42E-EF2C-7F43-9484-914B553E9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7E7A6-5180-5546-8D1D-DE22CB0D4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1E016-C811-4C40-B19B-163C72343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453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B69F39-CD51-084F-860C-3441F5AA3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220A2-5513-164A-97CA-094BAE16A8AF}" type="datetimeFigureOut">
              <a:rPr lang="en-US" smtClean="0"/>
              <a:t>3/11/20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76D299-F155-6644-917B-E5D2FA566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079818-089C-9A4D-B3FB-7AD5B0BAE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1E016-C811-4C40-B19B-163C72343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814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5924F-AD1C-F54D-BD28-14D86796C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2309D0-04D8-B04C-A747-3129DFC69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584963-2150-3E49-8D5F-5F49ADA6AC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D4A344-60D6-194F-90A2-280D6503B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220A2-5513-164A-97CA-094BAE16A8AF}" type="datetimeFigureOut">
              <a:rPr lang="en-US" smtClean="0"/>
              <a:t>3/11/20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3DE489-16F8-C94B-BE3D-ED76F3269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0BC15-8B5D-A145-A2A6-BCDFD9516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1E016-C811-4C40-B19B-163C72343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385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8311D-95BE-CF40-8A82-8BE5FB187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6A5304-1928-3445-AABB-0BD9C51DA0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353C53-7E2E-AA41-9203-9114A6CEA6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63F760-F28D-954C-B43F-93FF2151B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220A2-5513-164A-97CA-094BAE16A8AF}" type="datetimeFigureOut">
              <a:rPr lang="en-US" smtClean="0"/>
              <a:t>3/11/20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3AD163-2546-7940-9B32-2FEAC3506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3E0C30-25C2-EE49-B391-73E6E0BB0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1E016-C811-4C40-B19B-163C72343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43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7F2E4-DA3E-0E41-B646-9567363D6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C01F86-5435-BD46-8AC4-55259838A2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2B87D-C404-3845-921B-1292AFFEF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220A2-5513-164A-97CA-094BAE16A8AF}" type="datetimeFigureOut">
              <a:rPr lang="en-US" smtClean="0"/>
              <a:t>3/11/20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B68C1B-FD17-CD4A-BCE9-35E1C24FB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F4EF6-5D19-4445-B02C-43D861961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1E016-C811-4C40-B19B-163C72343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680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981E72-8CB1-C645-BFD1-4034B6E879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C476D7-33DF-8F47-8C64-CB9FA82FFC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FDAAD-A7C6-CB4F-A07E-A6FB3997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220A2-5513-164A-97CA-094BAE16A8AF}" type="datetimeFigureOut">
              <a:rPr lang="en-US" smtClean="0"/>
              <a:t>3/11/20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B5D5F-49EA-4945-BD20-8CB1237E6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3458A-C801-244A-BADF-F3280E82A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1E016-C811-4C40-B19B-163C72343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299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B02879-06D8-3649-B03D-CD1C64152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C4FE69-FAF2-B341-815A-755E7F2C1B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009A5-E297-D342-BC2C-7851F2ADF7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2220A2-5513-164A-97CA-094BAE16A8AF}" type="datetimeFigureOut">
              <a:rPr lang="en-US" smtClean="0"/>
              <a:t>3/11/20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458C81-89DC-324D-B0A3-A261172959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272571-2FE0-8845-9B24-0DCCC21845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01E016-C811-4C40-B19B-163C72343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409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rethinkingaids.com/" TargetMode="External"/><Relationship Id="rId7" Type="http://schemas.openxmlformats.org/officeDocument/2006/relationships/hyperlink" Target="http://www.duesberg.com/" TargetMode="External"/><Relationship Id="rId2" Type="http://schemas.openxmlformats.org/officeDocument/2006/relationships/hyperlink" Target="https://firstmonday.github.io/networkmap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aras.ab.ca/" TargetMode="External"/><Relationship Id="rId5" Type="http://schemas.openxmlformats.org/officeDocument/2006/relationships/hyperlink" Target="http://www.immunity.org.uk/" TargetMode="External"/><Relationship Id="rId4" Type="http://schemas.openxmlformats.org/officeDocument/2006/relationships/hyperlink" Target="http://www.theperthgroup.com/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8BF9F-46F7-AD4D-A585-FBA86A3D52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AIDS Denialism on the Internet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939A1D-CF4E-7147-9337-3F304F9B79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Miles C. Coleman and Joy M. Cypher</a:t>
            </a:r>
          </a:p>
          <a:p>
            <a:r>
              <a:rPr lang="en-US" dirty="0"/>
              <a:t>Communication Studies </a:t>
            </a:r>
          </a:p>
        </p:txBody>
      </p:sp>
    </p:spTree>
    <p:extLst>
      <p:ext uri="{BB962C8B-B14F-4D97-AF65-F5344CB8AC3E}">
        <p14:creationId xmlns:p14="http://schemas.microsoft.com/office/powerpoint/2010/main" val="3235388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FE56A-09DF-E349-8F12-2BC81794C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A7ECDA-7D3F-7841-9FB1-FB3199B76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83" y="0"/>
            <a:ext cx="11541034" cy="6858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D9F5935-F27B-DC48-ABAC-FE604CFB8F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114" y="1347492"/>
            <a:ext cx="8291867" cy="3877651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12BBEF-3856-5E45-9FCC-6F31E9D0A3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4037620" y="96556"/>
            <a:ext cx="6607629" cy="6664887"/>
          </a:xfrm>
        </p:spPr>
      </p:pic>
    </p:spTree>
    <p:extLst>
      <p:ext uri="{BB962C8B-B14F-4D97-AF65-F5344CB8AC3E}">
        <p14:creationId xmlns:p14="http://schemas.microsoft.com/office/powerpoint/2010/main" val="3934143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66A24-6EAD-474F-9A87-458BB0D69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C2764-6767-1A4D-A760-F28A2BFB1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need to learn more about AIDS denialist publics. </a:t>
            </a:r>
          </a:p>
          <a:p>
            <a:pPr lvl="1"/>
            <a:r>
              <a:rPr lang="en-US" dirty="0"/>
              <a:t>What is appealing about AIDS denialism? </a:t>
            </a:r>
          </a:p>
          <a:p>
            <a:r>
              <a:rPr lang="en-US" dirty="0"/>
              <a:t>We need methods for dealing with the “mess” of internet publics. </a:t>
            </a:r>
          </a:p>
          <a:p>
            <a:pPr lvl="1"/>
            <a:r>
              <a:rPr lang="en-US" dirty="0"/>
              <a:t>How can we “sift” through online texts and define the relevant </a:t>
            </a:r>
            <a:r>
              <a:rPr lang="en-US" i="1" dirty="0"/>
              <a:t>intertextual</a:t>
            </a:r>
            <a:r>
              <a:rPr lang="en-US" dirty="0"/>
              <a:t> relationships between those texts? 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679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45981-20C1-D74E-84CA-5CB36D409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Background: HIV/AIDS Denialism, Science, and Conspiracy 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71C825-B8D1-0C43-98E5-6F8444FF2D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Early 1980s: </a:t>
            </a:r>
            <a:r>
              <a:rPr lang="en-US" dirty="0"/>
              <a:t>AIDS is identified. </a:t>
            </a:r>
          </a:p>
          <a:p>
            <a:pPr marL="0" indent="0">
              <a:buNone/>
            </a:pPr>
            <a:r>
              <a:rPr lang="en-US" b="1" dirty="0"/>
              <a:t>Mid-1980s: </a:t>
            </a:r>
            <a:r>
              <a:rPr lang="en-US" dirty="0"/>
              <a:t>HIV is discovered to be the cause of AIDS. </a:t>
            </a:r>
          </a:p>
          <a:p>
            <a:pPr marL="0" indent="0">
              <a:buNone/>
            </a:pPr>
            <a:r>
              <a:rPr lang="en-US" b="1" dirty="0"/>
              <a:t>1987: </a:t>
            </a:r>
            <a:r>
              <a:rPr lang="en-US" dirty="0"/>
              <a:t>Azidothymidine (AZT) introduced. </a:t>
            </a:r>
          </a:p>
          <a:p>
            <a:pPr marL="0" indent="0">
              <a:buNone/>
            </a:pPr>
            <a:r>
              <a:rPr lang="en-US" dirty="0"/>
              <a:t>	Peter </a:t>
            </a:r>
            <a:r>
              <a:rPr lang="en-US" dirty="0" err="1"/>
              <a:t>Duesberg</a:t>
            </a:r>
            <a:r>
              <a:rPr lang="en-US" dirty="0"/>
              <a:t> argues that HIV does not cause aids in </a:t>
            </a:r>
            <a:r>
              <a:rPr lang="en-US" i="1" dirty="0"/>
              <a:t>Cancer 	Research. </a:t>
            </a:r>
          </a:p>
          <a:p>
            <a:pPr marL="0" indent="0">
              <a:buNone/>
            </a:pPr>
            <a:r>
              <a:rPr lang="en-US" b="1" dirty="0"/>
              <a:t>1990s-present: </a:t>
            </a:r>
            <a:r>
              <a:rPr lang="en-US" dirty="0"/>
              <a:t>Scientific consensus is that HIV causes AIDS, and 	therefore, HIV tests indicate disease, and antiretroviral therapies 	can treat infection. </a:t>
            </a:r>
          </a:p>
          <a:p>
            <a:pPr marL="0" indent="0">
              <a:buNone/>
            </a:pPr>
            <a:r>
              <a:rPr lang="en-US" i="1" dirty="0"/>
              <a:t>AIDS activism—advocacy for the AIDS community—runs throughout this timeline. </a:t>
            </a:r>
          </a:p>
        </p:txBody>
      </p:sp>
    </p:spTree>
    <p:extLst>
      <p:ext uri="{BB962C8B-B14F-4D97-AF65-F5344CB8AC3E}">
        <p14:creationId xmlns:p14="http://schemas.microsoft.com/office/powerpoint/2010/main" val="3295231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AE6C7-A1F7-9347-8BC4-E173FEC92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Assumptions: Existential Suffering in HIV/AIDS Discourses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8D5ED-9B84-3548-92B7-06E1C98B8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HIV+ diagnosis can entail: </a:t>
            </a:r>
          </a:p>
          <a:p>
            <a:pPr marL="749300" indent="-173038"/>
            <a:r>
              <a:rPr lang="en-US" dirty="0"/>
              <a:t>Fear of stigma</a:t>
            </a:r>
          </a:p>
          <a:p>
            <a:pPr marL="749300" indent="-173038"/>
            <a:r>
              <a:rPr lang="en-US" dirty="0"/>
              <a:t>Worry over mortality/chronic illness</a:t>
            </a:r>
          </a:p>
          <a:p>
            <a:pPr marL="749300" indent="-173038"/>
            <a:r>
              <a:rPr lang="en-US" dirty="0"/>
              <a:t>Shame</a:t>
            </a:r>
          </a:p>
          <a:p>
            <a:pPr marL="749300" indent="-173038"/>
            <a:r>
              <a:rPr lang="en-US" dirty="0"/>
              <a:t>Depression</a:t>
            </a:r>
          </a:p>
          <a:p>
            <a:pPr marL="14288" indent="0">
              <a:buNone/>
            </a:pPr>
            <a:r>
              <a:rPr lang="en-US" dirty="0"/>
              <a:t>As such, HIV+ diagnosis can carry threats of </a:t>
            </a:r>
            <a:r>
              <a:rPr lang="en-US" i="1" dirty="0"/>
              <a:t>existential suffering</a:t>
            </a:r>
            <a:r>
              <a:rPr lang="en-US" dirty="0"/>
              <a:t>: loss of </a:t>
            </a:r>
            <a:r>
              <a:rPr lang="en-US" b="1" dirty="0"/>
              <a:t>control</a:t>
            </a:r>
            <a:r>
              <a:rPr lang="en-US" dirty="0"/>
              <a:t> and </a:t>
            </a:r>
            <a:r>
              <a:rPr lang="en-US" b="1" dirty="0"/>
              <a:t>stability</a:t>
            </a:r>
            <a:r>
              <a:rPr lang="en-US" dirty="0"/>
              <a:t>. </a:t>
            </a:r>
          </a:p>
          <a:p>
            <a:pPr marL="14288" indent="0">
              <a:buNone/>
            </a:pPr>
            <a:r>
              <a:rPr lang="en-US" i="1" dirty="0"/>
              <a:t>To recognize the existential suffering of AIDS denialist publics is a responsible way to approach fellow persons with genuine stakes in the world.  </a:t>
            </a:r>
          </a:p>
          <a:p>
            <a:pPr marL="14288" indent="0">
              <a:buNone/>
            </a:pPr>
            <a:endParaRPr lang="en-US" dirty="0"/>
          </a:p>
          <a:p>
            <a:pPr marL="749300" indent="-173038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6750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D041F-092D-6E42-82A3-62F6FEF37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Method: Networked Public Analysis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015B5-D459-6646-B452-70AD7EB5FC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Composed of arrays of videos, websites, blog entries, </a:t>
            </a:r>
            <a:r>
              <a:rPr lang="en-US" i="1" dirty="0"/>
              <a:t>et cetera</a:t>
            </a:r>
            <a:r>
              <a:rPr lang="en-US" dirty="0"/>
              <a:t>, networks of texts—</a:t>
            </a:r>
            <a:r>
              <a:rPr lang="en-US" i="1" dirty="0"/>
              <a:t>networked publics</a:t>
            </a:r>
            <a:r>
              <a:rPr lang="en-US" dirty="0"/>
              <a:t>—afford the appearance of choice to the postmodern medical consumer.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Networked public analysis </a:t>
            </a:r>
            <a:r>
              <a:rPr lang="en-US" dirty="0"/>
              <a:t>is a mode of intertextual analysis, which emphasizes the composition and shape of a network so as to inform rhetorical ”close readings” of texts important to a given networked public. </a:t>
            </a:r>
          </a:p>
        </p:txBody>
      </p:sp>
    </p:spTree>
    <p:extLst>
      <p:ext uri="{BB962C8B-B14F-4D97-AF65-F5344CB8AC3E}">
        <p14:creationId xmlns:p14="http://schemas.microsoft.com/office/powerpoint/2010/main" val="2162298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43255-D597-CC46-B6E3-1FD5B324B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Method: Networked Public Analysis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3D2DB-B69B-7F4E-B2E6-EF2957B309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5147"/>
            <a:ext cx="10671629" cy="466725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To visualize a network of AIDS conspiracy texts is to afford visual/spatial representation to the constellation of texts, interacting with one another to create an environment hospitable to some discourses, and inhospitable to others.</a:t>
            </a:r>
          </a:p>
          <a:p>
            <a:pPr marL="1119188" lvl="0" indent="-514350">
              <a:buFont typeface="+mj-lt"/>
              <a:buAutoNum type="arabicPeriod"/>
            </a:pPr>
            <a:r>
              <a:rPr lang="en-US" dirty="0"/>
              <a:t>Discovery of the network. </a:t>
            </a:r>
          </a:p>
          <a:p>
            <a:pPr marL="1119188" lvl="0" indent="-514350">
              <a:buFont typeface="+mj-lt"/>
              <a:buAutoNum type="arabicPeriod"/>
            </a:pPr>
            <a:r>
              <a:rPr lang="en-US" dirty="0"/>
              <a:t>Analysis of the composition of the network/relationships between texts. </a:t>
            </a:r>
          </a:p>
          <a:p>
            <a:pPr marL="1119188" lvl="0" indent="-514350">
              <a:buFont typeface="+mj-lt"/>
              <a:buAutoNum type="arabicPeriod"/>
            </a:pPr>
            <a:r>
              <a:rPr lang="en-US" dirty="0"/>
              <a:t>Close reading of the nodes/texts in the network. </a:t>
            </a:r>
          </a:p>
          <a:p>
            <a:pPr marL="1119188" lvl="0" indent="-514350">
              <a:buFont typeface="+mj-lt"/>
              <a:buAutoNum type="arabicPeriod"/>
            </a:pPr>
            <a:r>
              <a:rPr lang="en-US" dirty="0"/>
              <a:t>Operationalization of themes regarding forms, narratives, and modalities discovered in the network/clusters of texts. </a:t>
            </a:r>
          </a:p>
          <a:p>
            <a:pPr marL="1119188" lvl="0" indent="-514350">
              <a:buFont typeface="+mj-lt"/>
              <a:buAutoNum type="arabicPeriod"/>
            </a:pPr>
            <a:r>
              <a:rPr lang="en-US" dirty="0"/>
              <a:t>Synthesis of discovered themes with the composition of the network/relationship between texts.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983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16A39-7B6F-C043-94DF-CB2579469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Discovery of the AIDS Denialist Networked Public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E48E0-99F0-854E-947A-B4FF35339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Seed links harvested from: </a:t>
            </a:r>
          </a:p>
          <a:p>
            <a:pPr marL="0" indent="0">
              <a:buNone/>
            </a:pPr>
            <a:r>
              <a:rPr lang="en-US" dirty="0"/>
              <a:t>	“AIDS is a hoax” </a:t>
            </a:r>
          </a:p>
          <a:p>
            <a:pPr marL="0" indent="0">
              <a:buNone/>
            </a:pPr>
            <a:r>
              <a:rPr lang="en-US" dirty="0"/>
              <a:t>	“Is AIDS real?”</a:t>
            </a:r>
          </a:p>
          <a:p>
            <a:pPr marL="0" indent="0">
              <a:buNone/>
            </a:pPr>
            <a:r>
              <a:rPr lang="en-US" dirty="0"/>
              <a:t>	“HIV lies and deception” </a:t>
            </a:r>
          </a:p>
          <a:p>
            <a:pPr marL="0" indent="0">
              <a:buNone/>
            </a:pPr>
            <a:r>
              <a:rPr lang="en-US" dirty="0"/>
              <a:t>	“AIDS conspiracy”</a:t>
            </a:r>
          </a:p>
          <a:p>
            <a:pPr marL="0" indent="0">
              <a:buNone/>
            </a:pPr>
            <a:r>
              <a:rPr lang="en-US" dirty="0"/>
              <a:t>	“HIV conspiracy”</a:t>
            </a:r>
          </a:p>
          <a:p>
            <a:pPr marL="0" indent="0">
              <a:buNone/>
            </a:pPr>
            <a:r>
              <a:rPr lang="en-US" dirty="0"/>
              <a:t>91 seed texts (e.g., </a:t>
            </a:r>
            <a:r>
              <a:rPr lang="en-US" dirty="0" err="1"/>
              <a:t>rethinkingaids.facebook.com</a:t>
            </a:r>
            <a:r>
              <a:rPr lang="en-US" dirty="0"/>
              <a:t>, </a:t>
            </a:r>
            <a:r>
              <a:rPr lang="en-US" dirty="0" err="1"/>
              <a:t>isaidsreal.com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1802 individual pages</a:t>
            </a:r>
          </a:p>
        </p:txBody>
      </p:sp>
    </p:spTree>
    <p:extLst>
      <p:ext uri="{BB962C8B-B14F-4D97-AF65-F5344CB8AC3E}">
        <p14:creationId xmlns:p14="http://schemas.microsoft.com/office/powerpoint/2010/main" val="2418595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48D19-1E20-0D48-BF94-8B9349919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75281D-C424-D042-816F-EAAD0693A4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24605" r="31286" b="16021"/>
          <a:stretch/>
        </p:blipFill>
        <p:spPr>
          <a:xfrm>
            <a:off x="654051" y="679421"/>
            <a:ext cx="10199459" cy="581345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9FF4690-CE05-BD4A-8A3D-DD75B58F0771}"/>
              </a:ext>
            </a:extLst>
          </p:cNvPr>
          <p:cNvSpPr txBox="1"/>
          <p:nvPr/>
        </p:nvSpPr>
        <p:spPr>
          <a:xfrm>
            <a:off x="5094514" y="598389"/>
            <a:ext cx="2002971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rethinkingaids.com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DE3A80-30A3-AC4B-A986-319DECD54608}"/>
              </a:ext>
            </a:extLst>
          </p:cNvPr>
          <p:cNvSpPr txBox="1"/>
          <p:nvPr/>
        </p:nvSpPr>
        <p:spPr>
          <a:xfrm>
            <a:off x="0" y="4152572"/>
            <a:ext cx="1719035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immunity.org.uk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C77E39-1144-3543-9727-99625971106C}"/>
              </a:ext>
            </a:extLst>
          </p:cNvPr>
          <p:cNvSpPr txBox="1"/>
          <p:nvPr/>
        </p:nvSpPr>
        <p:spPr>
          <a:xfrm>
            <a:off x="9502772" y="5809247"/>
            <a:ext cx="1350738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aras.ab.ca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913F1E-BCD1-7143-9578-4ADD433517BF}"/>
              </a:ext>
            </a:extLst>
          </p:cNvPr>
          <p:cNvSpPr txBox="1"/>
          <p:nvPr/>
        </p:nvSpPr>
        <p:spPr>
          <a:xfrm>
            <a:off x="838200" y="1237642"/>
            <a:ext cx="1509487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duesberg.com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8B7C57-15F2-E44F-9857-9B620C796711}"/>
              </a:ext>
            </a:extLst>
          </p:cNvPr>
          <p:cNvSpPr txBox="1"/>
          <p:nvPr/>
        </p:nvSpPr>
        <p:spPr>
          <a:xfrm>
            <a:off x="8784317" y="679421"/>
            <a:ext cx="2069193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theperthgroup.com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409ACA8-2710-5742-8158-ACC0979548F2}"/>
              </a:ext>
            </a:extLst>
          </p:cNvPr>
          <p:cNvCxnSpPr>
            <a:cxnSpLocks/>
          </p:cNvCxnSpPr>
          <p:nvPr/>
        </p:nvCxnSpPr>
        <p:spPr>
          <a:xfrm flipH="1" flipV="1">
            <a:off x="5984422" y="864087"/>
            <a:ext cx="419551" cy="2386688"/>
          </a:xfrm>
          <a:prstGeom prst="straightConnector1">
            <a:avLst/>
          </a:prstGeom>
          <a:ln w="133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650713D-411E-3641-93E2-A46049D0F6BA}"/>
              </a:ext>
            </a:extLst>
          </p:cNvPr>
          <p:cNvCxnSpPr>
            <a:cxnSpLocks/>
          </p:cNvCxnSpPr>
          <p:nvPr/>
        </p:nvCxnSpPr>
        <p:spPr>
          <a:xfrm flipH="1" flipV="1">
            <a:off x="2148114" y="1757831"/>
            <a:ext cx="4136573" cy="1643800"/>
          </a:xfrm>
          <a:prstGeom prst="straightConnector1">
            <a:avLst/>
          </a:prstGeom>
          <a:ln w="133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060F3BA-08F5-B949-8629-8DC7D2764511}"/>
              </a:ext>
            </a:extLst>
          </p:cNvPr>
          <p:cNvCxnSpPr>
            <a:cxnSpLocks/>
          </p:cNvCxnSpPr>
          <p:nvPr/>
        </p:nvCxnSpPr>
        <p:spPr>
          <a:xfrm flipV="1">
            <a:off x="7315200" y="1048753"/>
            <a:ext cx="1973943" cy="2380247"/>
          </a:xfrm>
          <a:prstGeom prst="straightConnector1">
            <a:avLst/>
          </a:prstGeom>
          <a:ln w="133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93DFAB5-1627-5A4E-9DB9-0194A8B89593}"/>
              </a:ext>
            </a:extLst>
          </p:cNvPr>
          <p:cNvCxnSpPr>
            <a:cxnSpLocks/>
          </p:cNvCxnSpPr>
          <p:nvPr/>
        </p:nvCxnSpPr>
        <p:spPr>
          <a:xfrm>
            <a:off x="6766832" y="3717858"/>
            <a:ext cx="2696482" cy="2054126"/>
          </a:xfrm>
          <a:prstGeom prst="straightConnector1">
            <a:avLst/>
          </a:prstGeom>
          <a:ln w="133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10C471C-B91D-9744-9DAE-84E03B052527}"/>
              </a:ext>
            </a:extLst>
          </p:cNvPr>
          <p:cNvCxnSpPr>
            <a:cxnSpLocks/>
          </p:cNvCxnSpPr>
          <p:nvPr/>
        </p:nvCxnSpPr>
        <p:spPr>
          <a:xfrm flipH="1">
            <a:off x="1719035" y="3563695"/>
            <a:ext cx="4265387" cy="704614"/>
          </a:xfrm>
          <a:prstGeom prst="straightConnector1">
            <a:avLst/>
          </a:prstGeom>
          <a:ln w="133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8230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3B9A8-D6E9-A547-B41B-5008F12E8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40DF2-0D70-954B-80C7-60D71D0550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https://firstmonday.github.io/networkmap/</a:t>
            </a:r>
            <a:endParaRPr lang="en-US" dirty="0"/>
          </a:p>
          <a:p>
            <a:pPr marL="514350" indent="-514350">
              <a:buAutoNum type="arabicPeriod"/>
            </a:pPr>
            <a:r>
              <a:rPr lang="en-US" dirty="0">
                <a:effectLst/>
                <a:hlinkClick r:id="rId3"/>
              </a:rPr>
              <a:t>https://rethinkingaids.com</a:t>
            </a:r>
            <a:endParaRPr lang="en-US" dirty="0">
              <a:effectLst/>
            </a:endParaRPr>
          </a:p>
          <a:p>
            <a:pPr marL="514350" indent="-514350">
              <a:buAutoNum type="arabicPeriod"/>
            </a:pPr>
            <a:r>
              <a:rPr lang="en-US" dirty="0">
                <a:effectLst/>
                <a:hlinkClick r:id="rId4"/>
              </a:rPr>
              <a:t>http://www.theperthgroup.com</a:t>
            </a:r>
            <a:endParaRPr lang="en-US" dirty="0">
              <a:effectLst/>
            </a:endParaRPr>
          </a:p>
          <a:p>
            <a:pPr marL="514350" indent="-514350">
              <a:buAutoNum type="arabicPeriod"/>
            </a:pPr>
            <a:r>
              <a:rPr lang="en-US" dirty="0">
                <a:effectLst/>
                <a:hlinkClick r:id="rId5"/>
              </a:rPr>
              <a:t>http://www.immunity.org.uk</a:t>
            </a:r>
            <a:r>
              <a:rPr lang="en-US" dirty="0">
                <a:effectLst/>
              </a:rPr>
              <a:t> </a:t>
            </a:r>
          </a:p>
          <a:p>
            <a:pPr marL="514350" indent="-514350">
              <a:buAutoNum type="arabicPeriod"/>
            </a:pPr>
            <a:r>
              <a:rPr lang="en-US" dirty="0">
                <a:effectLst/>
                <a:hlinkClick r:id="rId6"/>
              </a:rPr>
              <a:t>http://aras.ab.ca</a:t>
            </a:r>
            <a:r>
              <a:rPr lang="en-US" dirty="0">
                <a:effectLst/>
              </a:rPr>
              <a:t> </a:t>
            </a:r>
          </a:p>
          <a:p>
            <a:pPr marL="514350" indent="-514350">
              <a:buAutoNum type="arabicPeriod"/>
            </a:pPr>
            <a:r>
              <a:rPr lang="en-US" dirty="0">
                <a:hlinkClick r:id="rId7"/>
              </a:rPr>
              <a:t>http://www.duesberg.com/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739921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3B5E7-9CEA-FA4A-9A92-348933A08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Conclusions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5E60B-BD78-AF44-8B80-88BA5B963A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6310"/>
            <a:ext cx="10671629" cy="466725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What makes AIDS denialist arguments appealing? </a:t>
            </a:r>
          </a:p>
          <a:p>
            <a:pPr marL="0" indent="0">
              <a:buNone/>
            </a:pPr>
            <a:r>
              <a:rPr lang="en-US" dirty="0"/>
              <a:t>By means of various digital </a:t>
            </a:r>
            <a:r>
              <a:rPr lang="en-US" dirty="0" err="1"/>
              <a:t>rhetorics</a:t>
            </a:r>
            <a:r>
              <a:rPr lang="en-US" dirty="0"/>
              <a:t>, the discourses of the AIDS denialist network, represent, ostensibly, persuasive arrays of choice to the user in order to make appeals to the existential states of persons, characterized generally by: </a:t>
            </a:r>
          </a:p>
          <a:p>
            <a:pPr marL="457200" lvl="1" indent="0">
              <a:buNone/>
            </a:pPr>
            <a:r>
              <a:rPr lang="en-US" dirty="0"/>
              <a:t>1) The perception of powerlessness in one’s health--loss of control. </a:t>
            </a:r>
          </a:p>
          <a:p>
            <a:pPr marL="457200" lvl="1" indent="0">
              <a:buNone/>
            </a:pPr>
            <a:r>
              <a:rPr lang="en-US" dirty="0"/>
              <a:t>2) The uncertainty of one’s future--the loss of stability. </a:t>
            </a:r>
          </a:p>
          <a:p>
            <a:pPr marL="0" indent="0">
              <a:buNone/>
            </a:pPr>
            <a:r>
              <a:rPr lang="en-US" b="1" dirty="0"/>
              <a:t>How can we “sift” through online texts and define the relevant </a:t>
            </a:r>
            <a:r>
              <a:rPr lang="en-US" b="1" i="1" dirty="0"/>
              <a:t>intertextual</a:t>
            </a:r>
            <a:r>
              <a:rPr lang="en-US" b="1" dirty="0"/>
              <a:t> relationships between those texts? </a:t>
            </a:r>
          </a:p>
          <a:p>
            <a:pPr marL="0" indent="0">
              <a:buNone/>
            </a:pPr>
            <a:r>
              <a:rPr lang="en-US" b="1" dirty="0"/>
              <a:t>	</a:t>
            </a:r>
            <a:r>
              <a:rPr lang="en-US" dirty="0"/>
              <a:t>By applying ideas of “networks” and “publics” we can map 	network of texts so as to discover the texts most important a 	given public.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7796669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AD4A8-2115-DE41-B8E1-247F4EFC6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Article will be out in May!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3CD13-9542-B943-B8F2-7EA816B97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”The Digital </a:t>
            </a:r>
            <a:r>
              <a:rPr lang="en-US" dirty="0" err="1"/>
              <a:t>Rhetorics</a:t>
            </a:r>
            <a:r>
              <a:rPr lang="en-US" dirty="0"/>
              <a:t> of AIDS </a:t>
            </a:r>
            <a:r>
              <a:rPr lang="en-US" dirty="0" err="1"/>
              <a:t>Denailist</a:t>
            </a:r>
            <a:r>
              <a:rPr lang="en-US" dirty="0"/>
              <a:t> Networked Publics</a:t>
            </a:r>
            <a:r>
              <a:rPr lang="en-US"/>
              <a:t>.” </a:t>
            </a:r>
            <a:r>
              <a:rPr lang="en-US" i="1"/>
              <a:t>First Monday</a:t>
            </a:r>
            <a:r>
              <a:rPr lang="en-US"/>
              <a:t> (May 2020).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239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688</Words>
  <Application>Microsoft Macintosh PowerPoint</Application>
  <PresentationFormat>Widescreen</PresentationFormat>
  <Paragraphs>62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AIDS Denialism on the Internet</vt:lpstr>
      <vt:lpstr>PowerPoint Presentation</vt:lpstr>
      <vt:lpstr>PowerPoint Presentation</vt:lpstr>
      <vt:lpstr>Background: HIV/AIDS Denialism, Science, and Conspiracy </vt:lpstr>
      <vt:lpstr>Assumptions: Existential Suffering in HIV/AIDS Discourses </vt:lpstr>
      <vt:lpstr>Method: Networked Public Analysis </vt:lpstr>
      <vt:lpstr>Method: Networked Public Analysis </vt:lpstr>
      <vt:lpstr>Discovery of the AIDS Denialist Networked Public</vt:lpstr>
      <vt:lpstr>PowerPoint Presentation</vt:lpstr>
      <vt:lpstr>PowerPoint Presentation</vt:lpstr>
      <vt:lpstr>Conclusions </vt:lpstr>
      <vt:lpstr>Article will be out in May!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AIDS Denialism on the Internet</dc:title>
  <dc:creator>Microsoft Office User</dc:creator>
  <cp:lastModifiedBy>Microsoft Office User</cp:lastModifiedBy>
  <cp:revision>13</cp:revision>
  <dcterms:created xsi:type="dcterms:W3CDTF">2020-03-10T15:09:43Z</dcterms:created>
  <dcterms:modified xsi:type="dcterms:W3CDTF">2020-03-11T12:34:59Z</dcterms:modified>
</cp:coreProperties>
</file>